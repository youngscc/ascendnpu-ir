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275f0135fc48a9" /><Relationship Type="http://schemas.openxmlformats.org/officeDocument/2006/relationships/extended-properties" Target="/docProps/app.xml" Id="R8b6cb29922ad4748" /><Relationship Type="http://schemas.openxmlformats.org/officeDocument/2006/relationships/officeDocument" Target="/ppt/presentation.xml" Id="Ra3d985d65ee347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880bff17114bcb"/>
  </p:sldMasterIdLst>
  <p:notesMasterIdLst>
    <p:notesMasterId xmlns:r="http://schemas.openxmlformats.org/officeDocument/2006/relationships" r:id="Rf577b75ff3154504"/>
  </p:notesMasterIdLst>
  <p:sldIdLst>
    <p:sldId xmlns:r="http://schemas.openxmlformats.org/officeDocument/2006/relationships" id="256" r:id="R77edda0a2b5f4c8f"/>
    <p:sldId xmlns:r="http://schemas.openxmlformats.org/officeDocument/2006/relationships" id="257" r:id="Rab50cb0b04834121"/>
    <p:sldId xmlns:r="http://schemas.openxmlformats.org/officeDocument/2006/relationships" id="258" r:id="Rdc75943e154c4d4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43c5e31b07496e" /><Relationship Type="http://schemas.openxmlformats.org/officeDocument/2006/relationships/slideMaster" Target="/ppt/slideMasters/slideMaster1.xml" Id="Rc3880bff17114bcb" /><Relationship Type="http://schemas.openxmlformats.org/officeDocument/2006/relationships/notesMaster" Target="/ppt/notesMasters/notesMaster1.xml" Id="Rf577b75ff3154504" /><Relationship Type="http://schemas.openxmlformats.org/officeDocument/2006/relationships/presProps" Target="/ppt/presProps.xml" Id="Ra8a136e76c364cd2" /><Relationship Type="http://schemas.openxmlformats.org/officeDocument/2006/relationships/tableStyles" Target="/ppt/tableStyles.xml" Id="R315aef3696fb4a4e" /><Relationship Type="http://schemas.openxmlformats.org/officeDocument/2006/relationships/slide" Target="/ppt/slides/slide1.xml" Id="R77edda0a2b5f4c8f" /><Relationship Type="http://schemas.openxmlformats.org/officeDocument/2006/relationships/slide" Target="/ppt/slides/slide2.xml" Id="Rab50cb0b04834121" /><Relationship Type="http://schemas.openxmlformats.org/officeDocument/2006/relationships/slide" Target="/ppt/slides/slide3.xml" Id="Rdc75943e154c4d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343fcad27e46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00aaeb05be4a42" /><Relationship Type="http://schemas.openxmlformats.org/officeDocument/2006/relationships/notesMaster" Target="/ppt/notesMasters/notesMaster1.xml" Id="Rb5a1c77b86da41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a729d34374437d" /><Relationship Type="http://schemas.openxmlformats.org/officeDocument/2006/relationships/notesMaster" Target="/ppt/notesMasters/notesMaster1.xml" Id="R9711912af75240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8ba5f770254e17" /><Relationship Type="http://schemas.openxmlformats.org/officeDocument/2006/relationships/notesMaster" Target="/ppt/notesMasters/notesMaster1.xml" Id="Rb9e50341d28b4f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d581c2fc7947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5e3db5cb504948" /><Relationship Type="http://schemas.openxmlformats.org/officeDocument/2006/relationships/slideLayout" Target="/ppt/slideLayouts/slideLayout1.xml" Id="R132212ef87dd42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2212ef87dd42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ed17507a3403f" /><Relationship Type="http://schemas.openxmlformats.org/officeDocument/2006/relationships/notesSlide" Target="/ppt/notesSlides/notesSlide1.xml" Id="Rf6d289642d914a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1d7d30faf4fb7" /><Relationship Type="http://schemas.openxmlformats.org/officeDocument/2006/relationships/notesSlide" Target="/ppt/notesSlides/notesSlide2.xml" Id="R4ab61f6aa2d646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a2cfe484140f6" /><Relationship Type="http://schemas.openxmlformats.org/officeDocument/2006/relationships/notesSlide" Target="/ppt/notesSlides/notesSlide3.xml" Id="R132dc444caa646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82E5E78-3F11-4B62-AB8A-AE8B0A34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BOUND 建模｜问题与价值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B03B9A-F441-49B4-83DB-E10152B9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Bound 建模把“算子慢”转化为可定位的瓶颈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7AF371CE-B354-4C68-892B-2B263AF4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单看总耗时只能知道结果；Bound 模型把编译侧理论能力与 Profiling 实际执行放到同一口径，回答理论下限、主要限制和优化空间。</a:t>
            </a:r>
          </a:p>
        </p:txBody>
      </p:sp>
      <p:sp>
        <p:nvSpPr>
          <p:cNvPr id="4" name="theory-card">
            <a:extLst xmlns:a="http://schemas.openxmlformats.org/drawingml/2006/main">
              <a:ext uri="{FF2B5EF4-FFF2-40B4-BE49-F238E27FC236}">
                <a16:creationId xmlns:a16="http://schemas.microsoft.com/office/drawing/2014/main" id="{7AE42E5A-A1FE-41B2-B739-3DEF6F0C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54483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theory-card-copy">
            <a:extLst xmlns:a="http://schemas.openxmlformats.org/drawingml/2006/main">
              <a:ext uri="{FF2B5EF4-FFF2-40B4-BE49-F238E27FC236}">
                <a16:creationId xmlns:a16="http://schemas.microsoft.com/office/drawing/2014/main" id="{F1D90A79-65DB-4EB1-98AF-D0F40D5B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8768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理论基线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2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硬件最多能做到多快？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按 Cube、Vector、MTE 的工作量与吞吐/带宽，计算各组件理论周期。</a:t>
            </a:r>
          </a:p>
        </p:txBody>
      </p:sp>
      <p:sp>
        <p:nvSpPr>
          <p:cNvPr id="6" name="actual-card">
            <a:extLst xmlns:a="http://schemas.openxmlformats.org/drawingml/2006/main">
              <a:ext uri="{FF2B5EF4-FFF2-40B4-BE49-F238E27FC236}">
                <a16:creationId xmlns:a16="http://schemas.microsoft.com/office/drawing/2014/main" id="{B0FC20A3-03EC-472E-9025-DA919E3E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54483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actual-card-copy">
            <a:extLst xmlns:a="http://schemas.openxmlformats.org/drawingml/2006/main">
              <a:ext uri="{FF2B5EF4-FFF2-40B4-BE49-F238E27FC236}">
                <a16:creationId xmlns:a16="http://schemas.microsoft.com/office/drawing/2014/main" id="{AED84676-CA49-4145-8F21-A50CEBCE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57500"/>
            <a:ext cx="48768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实际执行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12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真实运行慢在哪里？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将 Profiling 周期映射回组件，观察利用率、等待与理论—实际差距。</a:t>
            </a:r>
          </a:p>
        </p:txBody>
      </p:sp>
      <p:sp>
        <p:nvSpPr>
          <p:cNvPr id="8" name="output-accent">
            <a:extLst xmlns:a="http://schemas.openxmlformats.org/drawingml/2006/main">
              <a:ext uri="{FF2B5EF4-FFF2-40B4-BE49-F238E27FC236}">
                <a16:creationId xmlns:a16="http://schemas.microsoft.com/office/drawing/2014/main" id="{457000DA-5FFF-41BC-92E7-D58B04A9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9" name="output-summary">
            <a:extLst xmlns:a="http://schemas.openxmlformats.org/drawingml/2006/main">
              <a:ext uri="{FF2B5EF4-FFF2-40B4-BE49-F238E27FC236}">
                <a16:creationId xmlns:a16="http://schemas.microsoft.com/office/drawing/2014/main" id="{DAA61BDF-C0A0-4C4C-A2AD-6CA3FB78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1028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9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最终输出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Bound 类型  ｜  理论性能下限  ｜  实际差距  ｜  优化优先级</a:t>
            </a:r>
          </a:p>
        </p:txBody>
      </p:sp>
      <p:sp>
        <p:nvSpPr>
          <p:cNvPr id="10" name="page-marker">
            <a:extLst xmlns:a="http://schemas.openxmlformats.org/drawingml/2006/main">
              <a:ext uri="{FF2B5EF4-FFF2-40B4-BE49-F238E27FC236}">
                <a16:creationId xmlns:a16="http://schemas.microsoft.com/office/drawing/2014/main" id="{A1405BD2-B6FF-4777-91C3-7D49E21E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BOUND / 01</a:t>
            </a:r>
          </a:p>
        </p:txBody>
      </p:sp>
    </p:spTree>
    <p:extLst>
      <p:ext uri="{BB962C8B-B14F-4D97-AF65-F5344CB8AC3E}">
        <p14:creationId xmlns:p14="http://schemas.microsoft.com/office/powerpoint/2010/main" val="269551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AB86CAF-3DA4-4FA8-9AF7-DD428AEA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BOUND 建模｜核心方法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385E3B-F26A-4BC1-AF12-9866F189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模型沿三步完成：拆分工作量、计算理论周期、对齐实测</a:t>
            </a:r>
          </a:p>
        </p:txBody>
      </p:sp>
      <p:sp>
        <p:nvSpPr>
          <p:cNvPr id="3" name="formula-strip">
            <a:extLst xmlns:a="http://schemas.openxmlformats.org/drawingml/2006/main">
              <a:ext uri="{FF2B5EF4-FFF2-40B4-BE49-F238E27FC236}">
                <a16:creationId xmlns:a16="http://schemas.microsoft.com/office/drawing/2014/main" id="{EE52AE40-7635-4165-8684-EAFF2ED2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3FF"/>
          </a:solidFill>
        </p:spPr>
      </p:sp>
      <p:sp>
        <p:nvSpPr>
          <p:cNvPr id="4" name="formula">
            <a:extLst xmlns:a="http://schemas.openxmlformats.org/drawingml/2006/main">
              <a:ext uri="{FF2B5EF4-FFF2-40B4-BE49-F238E27FC236}">
                <a16:creationId xmlns:a16="http://schemas.microsoft.com/office/drawing/2014/main" id="{ECA4401D-D426-4EF7-8E53-9E81DCB4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820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Component 理论周期 ≈ 工作量 ÷ 吞吐   或   数据量 ÷ 带宽</a:t>
            </a:r>
          </a:p>
        </p:txBody>
      </p:sp>
      <p:cxnSp>
        <p:nvCxnSpPr>
          <p:cNvPr id="21" name="timeline"/>
          <p:cNvCxnSpPr/>
          <p:nvPr/>
        </p:nvCxnSpPr>
        <p:spPr>
          <a:xfrm xmlns:a="http://schemas.openxmlformats.org/drawingml/2006/main">
            <a:off x="590550" y="3200400"/>
            <a:ext cx="105918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6" name="step-dot-1">
            <a:extLst xmlns:a="http://schemas.openxmlformats.org/drawingml/2006/main">
              <a:ext uri="{FF2B5EF4-FFF2-40B4-BE49-F238E27FC236}">
                <a16:creationId xmlns:a16="http://schemas.microsoft.com/office/drawing/2014/main" id="{4735CFE6-71A9-41A0-AF01-2D4D41E8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step-dot-2">
            <a:extLst xmlns:a="http://schemas.openxmlformats.org/drawingml/2006/main">
              <a:ext uri="{FF2B5EF4-FFF2-40B4-BE49-F238E27FC236}">
                <a16:creationId xmlns:a16="http://schemas.microsoft.com/office/drawing/2014/main" id="{25E55638-F05C-4DC6-9869-6FC10E82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14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8" name="step-dot-3">
            <a:extLst xmlns:a="http://schemas.openxmlformats.org/drawingml/2006/main">
              <a:ext uri="{FF2B5EF4-FFF2-40B4-BE49-F238E27FC236}">
                <a16:creationId xmlns:a16="http://schemas.microsoft.com/office/drawing/2014/main" id="{775DCA55-4385-4373-BADF-7DCF6F55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14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9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B661706E-C016-4F08-8608-579AA277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  静态解析</a:t>
            </a:r>
          </a:p>
        </p:txBody>
      </p:sp>
      <p:sp>
        <p:nvSpPr>
          <p:cNvPr id="10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599D4E2A-984E-4621-8BA6-0280133A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  理论建模</a:t>
            </a:r>
          </a:p>
        </p:txBody>
      </p:sp>
      <p:sp>
        <p:nvSpPr>
          <p:cNvPr id="11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77CE554E-5EB5-4F64-8807-0B35423D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860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  对比诊断</a:t>
            </a:r>
          </a:p>
        </p:txBody>
      </p:sp>
      <p:sp>
        <p:nvSpPr>
          <p:cNvPr id="12" name="step-copy-1">
            <a:extLst xmlns:a="http://schemas.openxmlformats.org/drawingml/2006/main">
              <a:ext uri="{FF2B5EF4-FFF2-40B4-BE49-F238E27FC236}">
                <a16:creationId xmlns:a16="http://schemas.microsoft.com/office/drawing/2014/main" id="{B918C0F9-B09A-4018-865B-33A42D44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3009900" cy="147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2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识别工作负载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从 HIVM / IR 提取指令类型、数据规模、循环次数与流水单元。</a:t>
            </a:r>
          </a:p>
        </p:txBody>
      </p:sp>
      <p:sp>
        <p:nvSpPr>
          <p:cNvPr id="13" name="step-copy-2">
            <a:extLst xmlns:a="http://schemas.openxmlformats.org/drawingml/2006/main">
              <a:ext uri="{FF2B5EF4-FFF2-40B4-BE49-F238E27FC236}">
                <a16:creationId xmlns:a16="http://schemas.microsoft.com/office/drawing/2014/main" id="{425FA271-6A06-4855-BD09-7059D3E2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38550"/>
            <a:ext cx="3009900" cy="147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2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计算组件 Bound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换算 Cube、Vector、MTE 理论周期；可并行时由最慢组件决定理论下限。</a:t>
            </a:r>
          </a:p>
        </p:txBody>
      </p:sp>
      <p:sp>
        <p:nvSpPr>
          <p:cNvPr id="14" name="step-copy-3">
            <a:extLst xmlns:a="http://schemas.openxmlformats.org/drawingml/2006/main">
              <a:ext uri="{FF2B5EF4-FFF2-40B4-BE49-F238E27FC236}">
                <a16:creationId xmlns:a16="http://schemas.microsoft.com/office/drawing/2014/main" id="{0EAEF566-09B0-4EA3-B84B-630D23BF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38550"/>
            <a:ext cx="3143250" cy="147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2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对齐 Profiling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比较理论与实际周期，计算利用率及差距，判断主要 Bound 类型。</a:t>
            </a:r>
          </a:p>
        </p:txBody>
      </p:sp>
      <p:sp>
        <p:nvSpPr>
          <p:cNvPr id="15" name="method-takeaway">
            <a:extLst xmlns:a="http://schemas.openxmlformats.org/drawingml/2006/main">
              <a:ext uri="{FF2B5EF4-FFF2-40B4-BE49-F238E27FC236}">
                <a16:creationId xmlns:a16="http://schemas.microsoft.com/office/drawing/2014/main" id="{5C905CC5-47DC-4B99-9461-9A2EEDEE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10610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核心判断：谁的理论周期最长，谁更可能成为性能上限；实际差距则反映尚未解释的流水、同步与并行损失。</a:t>
            </a:r>
          </a:p>
        </p:txBody>
      </p:sp>
      <p:sp>
        <p:nvSpPr>
          <p:cNvPr id="1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D91BE84-D2CD-4B42-998D-0DACDF31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BOUND / 02</a:t>
            </a:r>
          </a:p>
        </p:txBody>
      </p:sp>
    </p:spTree>
    <p:extLst>
      <p:ext uri="{BB962C8B-B14F-4D97-AF65-F5344CB8AC3E}">
        <p14:creationId xmlns:p14="http://schemas.microsoft.com/office/powerpoint/2010/main" val="17954661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57CECD6-7773-465B-8673-C9990379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BOUND 建模｜工作进展与价值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1A72EC-88C5-46D9-B8A3-D9801732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阶段产出：建立了一条可解释、可验证的性能分析链路</a:t>
            </a:r>
          </a:p>
        </p:txBody>
      </p:sp>
      <p:sp>
        <p:nvSpPr>
          <p:cNvPr id="3" name="v-rule">
            <a:extLst xmlns:a="http://schemas.openxmlformats.org/drawingml/2006/main">
              <a:ext uri="{FF2B5EF4-FFF2-40B4-BE49-F238E27FC236}">
                <a16:creationId xmlns:a16="http://schemas.microsoft.com/office/drawing/2014/main" id="{371C82E1-748E-4D73-A37A-D5563BB3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90700"/>
            <a:ext cx="952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h-rule-left">
            <a:extLst xmlns:a="http://schemas.openxmlformats.org/drawingml/2006/main">
              <a:ext uri="{FF2B5EF4-FFF2-40B4-BE49-F238E27FC236}">
                <a16:creationId xmlns:a16="http://schemas.microsoft.com/office/drawing/2014/main" id="{BB17308D-65C2-49DD-93F3-94A50CB1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" name="h-rule-right">
            <a:extLst xmlns:a="http://schemas.openxmlformats.org/drawingml/2006/main">
              <a:ext uri="{FF2B5EF4-FFF2-40B4-BE49-F238E27FC236}">
                <a16:creationId xmlns:a16="http://schemas.microsoft.com/office/drawing/2014/main" id="{8F8DC987-EC44-4BDE-A9E1-678F9030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814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6" name="point-1">
            <a:extLst xmlns:a="http://schemas.openxmlformats.org/drawingml/2006/main">
              <a:ext uri="{FF2B5EF4-FFF2-40B4-BE49-F238E27FC236}">
                <a16:creationId xmlns:a16="http://schemas.microsoft.com/office/drawing/2014/main" id="{D0C263EB-D1C8-470F-86FD-FDD657C3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2197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2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  打通数据链路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梳理 IR / HIVM 中的指令、数据量和流水信息，并建立与 Profiling 字段的对应关系。</a:t>
            </a:r>
          </a:p>
        </p:txBody>
      </p:sp>
      <p:sp>
        <p:nvSpPr>
          <p:cNvPr id="7" name="point-2">
            <a:extLst xmlns:a="http://schemas.openxmlformats.org/drawingml/2006/main">
              <a:ext uri="{FF2B5EF4-FFF2-40B4-BE49-F238E27FC236}">
                <a16:creationId xmlns:a16="http://schemas.microsoft.com/office/drawing/2014/main" id="{9C88A0D8-7508-4540-B303-AF1D6D28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52387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2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  形成模型能力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输出分组件理论周期、Bound 类型，以及 ERU、REU、利用率和理论—实际差距。</a:t>
            </a:r>
          </a:p>
        </p:txBody>
      </p:sp>
      <p:sp>
        <p:nvSpPr>
          <p:cNvPr id="8" name="point-3">
            <a:extLst xmlns:a="http://schemas.openxmlformats.org/drawingml/2006/main">
              <a:ext uri="{FF2B5EF4-FFF2-40B4-BE49-F238E27FC236}">
                <a16:creationId xmlns:a16="http://schemas.microsoft.com/office/drawing/2014/main" id="{58BB09D6-F4EE-4E75-BAA0-26C5DF43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95725"/>
            <a:ext cx="52197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2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  建立验证方法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用简单算例校验公式、典型算子检查偏差，并沿 Profiling → IR 回溯异常来源。</a:t>
            </a:r>
          </a:p>
        </p:txBody>
      </p:sp>
      <p:sp>
        <p:nvSpPr>
          <p:cNvPr id="9" name="point-4">
            <a:extLst xmlns:a="http://schemas.openxmlformats.org/drawingml/2006/main">
              <a:ext uri="{FF2B5EF4-FFF2-40B4-BE49-F238E27FC236}">
                <a16:creationId xmlns:a16="http://schemas.microsoft.com/office/drawing/2014/main" id="{A7462E76-418A-4BE5-9753-E006AE06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95725"/>
            <a:ext cx="52387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12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  支撑优化决策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区分算力、搬运和并行问题，确定优化优先级，并为后续 UB 资源分析提供下钻入口。</a:t>
            </a:r>
          </a:p>
        </p:txBody>
      </p:sp>
      <p:sp>
        <p:nvSpPr>
          <p:cNvPr id="10" name="boundary-strip">
            <a:extLst xmlns:a="http://schemas.openxmlformats.org/drawingml/2006/main">
              <a:ext uri="{FF2B5EF4-FFF2-40B4-BE49-F238E27FC236}">
                <a16:creationId xmlns:a16="http://schemas.microsoft.com/office/drawing/2014/main" id="{CA930FD9-7EC1-4D0F-966E-45A443D5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66F18C43-D531-4606-9FEC-4A252FB2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0934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阶段边界：模型结论依赖硬件参数、流水重叠假设与 Profiling 口径，仍需持续用真实算例校准。</a:t>
            </a:r>
          </a:p>
        </p:txBody>
      </p:sp>
      <p:sp>
        <p:nvSpPr>
          <p:cNvPr id="12" name="page-marker">
            <a:extLst xmlns:a="http://schemas.openxmlformats.org/drawingml/2006/main">
              <a:ext uri="{FF2B5EF4-FFF2-40B4-BE49-F238E27FC236}">
                <a16:creationId xmlns:a16="http://schemas.microsoft.com/office/drawing/2014/main" id="{A8EE7066-A72E-404A-8C40-46BE719F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165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BOUND / 03</a:t>
            </a:r>
          </a:p>
        </p:txBody>
      </p:sp>
    </p:spTree>
    <p:extLst>
      <p:ext uri="{BB962C8B-B14F-4D97-AF65-F5344CB8AC3E}">
        <p14:creationId xmlns:p14="http://schemas.microsoft.com/office/powerpoint/2010/main" val="1165903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2026-07-16T02:31:33.0280000Z</dcterms:created>
  <dcterms:modified xsi:type="dcterms:W3CDTF">2026-07-16T02:31:33.0280000Z</dcterms:modified>
</coreProperties>
</file>